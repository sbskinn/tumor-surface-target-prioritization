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Montserrat Bold" charset="1" panose="00000800000000000000"/>
      <p:regular r:id="rId18"/>
    </p:embeddedFont>
    <p:embeddedFont>
      <p:font typeface="Poppins" charset="1" panose="00000500000000000000"/>
      <p:regular r:id="rId19"/>
    </p:embeddedFont>
    <p:embeddedFont>
      <p:font typeface="Poppins Bold" charset="1" panose="00000800000000000000"/>
      <p:regular r:id="rId20"/>
    </p:embeddedFont>
    <p:embeddedFont>
      <p:font typeface="Canva Sans" charset="1" panose="020B0503030501040103"/>
      <p:regular r:id="rId21"/>
    </p:embeddedFont>
    <p:embeddedFont>
      <p:font typeface="Canva Sans Bold" charset="1" panose="020B0803030501040103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notesMasters/notesMaster1.xml" Type="http://schemas.openxmlformats.org/officeDocument/2006/relationships/notesMaster"/><Relationship Id="rId24" Target="theme/theme2.xml" Type="http://schemas.openxmlformats.org/officeDocument/2006/relationships/theme"/><Relationship Id="rId25" Target="notesSlides/notesSlide1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nadia- slide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png" Type="http://schemas.openxmlformats.org/officeDocument/2006/relationships/image"/><Relationship Id="rId6" Target="../media/image1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doi.org/10.1038/s41467-026-77465-5" TargetMode="External" Type="http://schemas.openxmlformats.org/officeDocument/2006/relationships/hyperlink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762772" cy="709824"/>
          </a:xfrm>
          <a:custGeom>
            <a:avLst/>
            <a:gdLst/>
            <a:ahLst/>
            <a:cxnLst/>
            <a:rect r="r" b="b" t="t" l="l"/>
            <a:pathLst>
              <a:path h="709824" w="762772">
                <a:moveTo>
                  <a:pt x="0" y="0"/>
                </a:moveTo>
                <a:lnTo>
                  <a:pt x="762772" y="0"/>
                </a:lnTo>
                <a:lnTo>
                  <a:pt x="762772" y="709824"/>
                </a:lnTo>
                <a:lnTo>
                  <a:pt x="0" y="7098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948693" y="1383612"/>
            <a:ext cx="6310607" cy="7200900"/>
          </a:xfrm>
          <a:custGeom>
            <a:avLst/>
            <a:gdLst/>
            <a:ahLst/>
            <a:cxnLst/>
            <a:rect r="r" b="b" t="t" l="l"/>
            <a:pathLst>
              <a:path h="7200900" w="6310607">
                <a:moveTo>
                  <a:pt x="0" y="0"/>
                </a:moveTo>
                <a:lnTo>
                  <a:pt x="6310607" y="0"/>
                </a:lnTo>
                <a:lnTo>
                  <a:pt x="6310607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3022044"/>
            <a:ext cx="11310625" cy="3893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20"/>
              </a:lnSpc>
            </a:pPr>
            <a:r>
              <a:rPr lang="en-US" b="true" sz="1440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Checkpoint 1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7519831" y="-691855"/>
            <a:ext cx="1676063" cy="11497700"/>
            <a:chOff x="0" y="0"/>
            <a:chExt cx="441432" cy="302820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1432" cy="3028201"/>
            </a:xfrm>
            <a:custGeom>
              <a:avLst/>
              <a:gdLst/>
              <a:ahLst/>
              <a:cxnLst/>
              <a:rect r="r" b="b" t="t" l="l"/>
              <a:pathLst>
                <a:path h="3028201" w="441432">
                  <a:moveTo>
                    <a:pt x="0" y="0"/>
                  </a:moveTo>
                  <a:lnTo>
                    <a:pt x="441432" y="0"/>
                  </a:lnTo>
                  <a:lnTo>
                    <a:pt x="441432" y="3028201"/>
                  </a:lnTo>
                  <a:lnTo>
                    <a:pt x="0" y="3028201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41432" cy="30663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962956" y="991814"/>
            <a:ext cx="1870631" cy="746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</a:pPr>
            <a:r>
              <a:rPr lang="en-US" sz="20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Thynk Unlimited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579307"/>
            <a:ext cx="7880342" cy="1005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spc="316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Caroline Nutter, Joanna Land, Skyler Skinner, Nadia Alexander</a:t>
            </a:r>
          </a:p>
        </p:txBody>
      </p:sp>
      <p:sp>
        <p:nvSpPr>
          <p:cNvPr name="AutoShape 10" id="10"/>
          <p:cNvSpPr/>
          <p:nvPr/>
        </p:nvSpPr>
        <p:spPr>
          <a:xfrm flipH="true" flipV="true">
            <a:off x="1047750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H="true" flipV="true">
            <a:off x="1191738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flipH="true" flipV="true">
            <a:off x="1335726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flipH="true" flipV="true">
            <a:off x="16952274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 flipV="true">
            <a:off x="17096262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flipV="true">
            <a:off x="17240250" y="8855456"/>
            <a:ext cx="0" cy="402844"/>
          </a:xfrm>
          <a:prstGeom prst="line">
            <a:avLst/>
          </a:prstGeom>
          <a:ln cap="flat" w="38100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DEE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0225" y="2013144"/>
            <a:ext cx="14687550" cy="5992618"/>
            <a:chOff x="0" y="0"/>
            <a:chExt cx="19583400" cy="7990158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1917700" y="7177358"/>
              <a:ext cx="15748000" cy="812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b="true" sz="4000">
                  <a:solidFill>
                    <a:srgbClr val="635C56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Caroline Nutter &amp; Joanna Land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9525"/>
              <a:ext cx="19583400" cy="62706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400"/>
                </a:lnSpc>
              </a:pPr>
              <a:r>
                <a:rPr lang="en-US" b="true" sz="9500">
                  <a:solidFill>
                    <a:srgbClr val="635C56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Research Paper Analysis</a:t>
              </a:r>
            </a:p>
            <a:p>
              <a:pPr algn="ctr">
                <a:lnSpc>
                  <a:spcPts val="4799"/>
                </a:lnSpc>
              </a:pPr>
              <a:r>
                <a:rPr lang="en-US" b="true" sz="3999">
                  <a:solidFill>
                    <a:srgbClr val="635C56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“Cancer-driver-agnostic targeting of amplified surface proteins identifies MPZL1 for selective CAR-T cell therapy”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80177" y="3213862"/>
            <a:ext cx="5247909" cy="4435797"/>
          </a:xfrm>
          <a:custGeom>
            <a:avLst/>
            <a:gdLst/>
            <a:ahLst/>
            <a:cxnLst/>
            <a:rect r="r" b="b" t="t" l="l"/>
            <a:pathLst>
              <a:path h="4435797" w="5247909">
                <a:moveTo>
                  <a:pt x="0" y="0"/>
                </a:moveTo>
                <a:lnTo>
                  <a:pt x="5247908" y="0"/>
                </a:lnTo>
                <a:lnTo>
                  <a:pt x="5247908" y="4435797"/>
                </a:lnTo>
                <a:lnTo>
                  <a:pt x="0" y="44357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23950"/>
            <a:ext cx="11948197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Pipeline &amp; Datasets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7118" y="3118612"/>
            <a:ext cx="12363059" cy="58211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6837" indent="-358419" lvl="1">
              <a:lnSpc>
                <a:spcPts val="4648"/>
              </a:lnSpc>
              <a:buAutoNum type="arabi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 Evaluated cell-surface protein genes with a high presence in tumors.</a:t>
            </a:r>
          </a:p>
          <a:p>
            <a:pPr algn="l" marL="1433674" indent="-477891" lvl="2">
              <a:lnSpc>
                <a:spcPts val="4648"/>
              </a:lnSpc>
              <a:buAutoNum type="alphaLcPeriod" startAt="1"/>
            </a:pP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Cell Surface Protein Atlas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1,492 cell-surface protein genes</a:t>
            </a:r>
          </a:p>
          <a:p>
            <a:pPr algn="l" marL="1433674" indent="-477891" lvl="2">
              <a:lnSpc>
                <a:spcPts val="4648"/>
              </a:lnSpc>
              <a:buAutoNum type="alphaLcPeriod" startAt="1"/>
            </a:pP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ICGA/TCGA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2,703 patients</a:t>
            </a:r>
          </a:p>
          <a:p>
            <a:pPr algn="l" marL="1433674" indent="-477891" lvl="2">
              <a:lnSpc>
                <a:spcPts val="4648"/>
              </a:lnSpc>
              <a:buAutoNum type="alphaL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GISTIC 2.0 &amp; cBioPortal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scored the genes</a:t>
            </a:r>
          </a:p>
          <a:p>
            <a:pPr algn="l" marL="1433674" indent="-477891" lvl="2">
              <a:lnSpc>
                <a:spcPts val="4648"/>
              </a:lnSpc>
              <a:buAutoNum type="alphaL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GEPIA2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genes in liver cancer vs normal liver</a:t>
            </a:r>
          </a:p>
          <a:p>
            <a:pPr algn="l" marL="1433674" indent="-477891" lvl="2">
              <a:lnSpc>
                <a:spcPts val="4648"/>
              </a:lnSpc>
              <a:buAutoNum type="alphaL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UniProt/HPA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6 plasma membrane genes</a:t>
            </a:r>
          </a:p>
          <a:p>
            <a:pPr algn="l" marL="716837" indent="-358419" lvl="1">
              <a:lnSpc>
                <a:spcPts val="4648"/>
              </a:lnSpc>
              <a:buAutoNum type="arabi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Chose to analyze MPZL1.</a:t>
            </a:r>
          </a:p>
          <a:p>
            <a:pPr algn="l" marL="1433674" indent="-477891" lvl="2">
              <a:lnSpc>
                <a:spcPts val="4648"/>
              </a:lnSpc>
              <a:spcBef>
                <a:spcPct val="0"/>
              </a:spcBef>
              <a:buAutoNum type="alphaL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DepMap: 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MPZL1 is not a driver for cancer cell growth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80177" y="3213862"/>
            <a:ext cx="5247909" cy="4435797"/>
          </a:xfrm>
          <a:custGeom>
            <a:avLst/>
            <a:gdLst/>
            <a:ahLst/>
            <a:cxnLst/>
            <a:rect r="r" b="b" t="t" l="l"/>
            <a:pathLst>
              <a:path h="4435797" w="5247909">
                <a:moveTo>
                  <a:pt x="0" y="0"/>
                </a:moveTo>
                <a:lnTo>
                  <a:pt x="5247908" y="0"/>
                </a:lnTo>
                <a:lnTo>
                  <a:pt x="5247908" y="4435797"/>
                </a:lnTo>
                <a:lnTo>
                  <a:pt x="0" y="44357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23950"/>
            <a:ext cx="11948197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Pipeline &amp; Datasets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17118" y="2551309"/>
            <a:ext cx="12363059" cy="7564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6837" indent="-358419" lvl="1">
              <a:lnSpc>
                <a:spcPts val="4648"/>
              </a:lnSpc>
              <a:buAutoNum type="arabicPeriod" startAt="1"/>
            </a:pP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Analyzed correlation between MPZL1 proteins and mRNA.</a:t>
            </a:r>
          </a:p>
          <a:p>
            <a:pPr algn="l" marL="1433674" indent="-477891" lvl="2">
              <a:lnSpc>
                <a:spcPts val="4648"/>
              </a:lnSpc>
              <a:buAutoNum type="alphaL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13 patient livers: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positive correlation between number of MPZL1 protein copies and mRNA present</a:t>
            </a:r>
          </a:p>
          <a:p>
            <a:pPr algn="l" marL="716837" indent="-358419" lvl="1">
              <a:lnSpc>
                <a:spcPts val="4648"/>
              </a:lnSpc>
              <a:buAutoNum type="arabi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Analyzed MPZL1 presence in cancer tumors versus healthy tissue.</a:t>
            </a:r>
          </a:p>
          <a:p>
            <a:pPr algn="l" marL="1433674" indent="-477891" lvl="2">
              <a:lnSpc>
                <a:spcPts val="4648"/>
              </a:lnSpc>
              <a:buAutoNum type="alphaL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2,335 tumors &amp; 30 normal tissues:</a:t>
            </a:r>
            <a:r>
              <a:rPr lang="en-US" sz="33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found that MPZL1 has a greater presence in cancer tumors than healthy tissue</a:t>
            </a:r>
          </a:p>
          <a:p>
            <a:pPr algn="l" marL="716837" indent="-358419" lvl="1">
              <a:lnSpc>
                <a:spcPts val="4648"/>
              </a:lnSpc>
              <a:buAutoNum type="arabi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Built CAR-T cells with antibody grabber to latch onto MPZL1 containing cells.</a:t>
            </a:r>
          </a:p>
          <a:p>
            <a:pPr algn="l" marL="716837" indent="-358419" lvl="1">
              <a:lnSpc>
                <a:spcPts val="4648"/>
              </a:lnSpc>
              <a:spcBef>
                <a:spcPct val="0"/>
              </a:spcBef>
              <a:buAutoNum type="arabicPeriod" startAt="1"/>
            </a:pPr>
            <a:r>
              <a:rPr lang="en-US" b="true" sz="332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Tested in dishes, mice with human tumors, mice with liver tumors, and human tissue.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4080713"/>
            <a:ext cx="8350744" cy="5177587"/>
          </a:xfrm>
          <a:custGeom>
            <a:avLst/>
            <a:gdLst/>
            <a:ahLst/>
            <a:cxnLst/>
            <a:rect r="r" b="b" t="t" l="l"/>
            <a:pathLst>
              <a:path h="5177587" w="8350744">
                <a:moveTo>
                  <a:pt x="0" y="0"/>
                </a:moveTo>
                <a:lnTo>
                  <a:pt x="8350744" y="0"/>
                </a:lnTo>
                <a:lnTo>
                  <a:pt x="8350744" y="5177587"/>
                </a:lnTo>
                <a:lnTo>
                  <a:pt x="0" y="51775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5974720" y="1028700"/>
            <a:ext cx="1284580" cy="1284580"/>
          </a:xfrm>
          <a:custGeom>
            <a:avLst/>
            <a:gdLst/>
            <a:ahLst/>
            <a:cxnLst/>
            <a:rect r="r" b="b" t="t" l="l"/>
            <a:pathLst>
              <a:path h="1284580" w="1284580">
                <a:moveTo>
                  <a:pt x="1284580" y="1284580"/>
                </a:moveTo>
                <a:lnTo>
                  <a:pt x="0" y="1284580"/>
                </a:lnTo>
                <a:lnTo>
                  <a:pt x="0" y="0"/>
                </a:lnTo>
                <a:lnTo>
                  <a:pt x="1284580" y="0"/>
                </a:lnTo>
                <a:lnTo>
                  <a:pt x="1284580" y="128458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738288"/>
            <a:ext cx="9346453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Contributions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781570" y="2926372"/>
            <a:ext cx="8308569" cy="60548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73605" indent="-336802" lvl="1">
              <a:lnSpc>
                <a:spcPts val="4367"/>
              </a:lnSpc>
              <a:buFont typeface="Arial"/>
              <a:buChar char="•"/>
            </a:pPr>
            <a:r>
              <a:rPr lang="en-US" sz="311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Determined </a:t>
            </a:r>
            <a:r>
              <a:rPr lang="en-US" b="true" sz="311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MPZL1 proteins</a:t>
            </a:r>
            <a:r>
              <a:rPr lang="en-US" sz="311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have additional copies in tumor cells, sit at the surface of the cell, do not contribute to tumor growth, and are more prevalent in cancer cells than healthy tissue.</a:t>
            </a:r>
          </a:p>
          <a:p>
            <a:pPr algn="l" marL="673605" indent="-336802" lvl="1">
              <a:lnSpc>
                <a:spcPts val="4367"/>
              </a:lnSpc>
              <a:buFont typeface="Arial"/>
              <a:buChar char="•"/>
            </a:pPr>
            <a:r>
              <a:rPr lang="en-US" b="true" sz="311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Built CAR-T cells</a:t>
            </a:r>
            <a:r>
              <a:rPr lang="en-US" sz="311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that include a MPZL1-ChAb antibody.</a:t>
            </a:r>
          </a:p>
          <a:p>
            <a:pPr algn="l" marL="673605" indent="-336802" lvl="1">
              <a:lnSpc>
                <a:spcPts val="4367"/>
              </a:lnSpc>
              <a:spcBef>
                <a:spcPct val="0"/>
              </a:spcBef>
              <a:buFont typeface="Arial"/>
              <a:buChar char="•"/>
            </a:pPr>
            <a:r>
              <a:rPr lang="en-US" sz="311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Found that the CAR-T cells respond to mice tumors, and </a:t>
            </a:r>
            <a:r>
              <a:rPr lang="en-US" b="true" sz="311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infiltrated tumors over healthy human tissue</a:t>
            </a:r>
            <a:r>
              <a:rPr lang="en-US" sz="311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00104" y="95250"/>
            <a:ext cx="15487792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Statistical Methods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5072" y="1442511"/>
            <a:ext cx="17917857" cy="8309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40"/>
              </a:lnSpc>
            </a:pPr>
            <a:r>
              <a:rPr lang="en-US" sz="3600" b="true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Statistical analysis focus</a:t>
            </a: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</a:p>
          <a:p>
            <a:pPr algn="l" marL="777242" indent="-388621" lvl="1">
              <a:lnSpc>
                <a:spcPts val="5040"/>
              </a:lnSpc>
              <a:buAutoNum type="arabicPeriod" startAt="1"/>
            </a:pP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MPZL1 genes are the </a:t>
            </a:r>
            <a:r>
              <a:rPr lang="en-US" b="true" sz="36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appropriate gene</a:t>
            </a: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to target in tumors.</a:t>
            </a:r>
          </a:p>
          <a:p>
            <a:pPr algn="l" marL="777242" indent="-388621" lvl="1">
              <a:lnSpc>
                <a:spcPts val="5040"/>
              </a:lnSpc>
              <a:buAutoNum type="arabicPeriod" startAt="1"/>
            </a:pP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Understanding if </a:t>
            </a:r>
            <a:r>
              <a:rPr lang="en-US" b="true" sz="36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CAR-T cells attack cells because of the presence of the MPZL1 protein</a:t>
            </a: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l">
              <a:lnSpc>
                <a:spcPts val="5040"/>
              </a:lnSpc>
            </a:pPr>
          </a:p>
          <a:p>
            <a:pPr algn="l">
              <a:lnSpc>
                <a:spcPts val="5040"/>
              </a:lnSpc>
            </a:pPr>
            <a:r>
              <a:rPr lang="en-US" sz="3600" b="true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Methods:</a:t>
            </a:r>
          </a:p>
          <a:p>
            <a:pPr algn="l" marL="777242" indent="-388621" lvl="1">
              <a:lnSpc>
                <a:spcPts val="5040"/>
              </a:lnSpc>
              <a:buAutoNum type="arabicPeriod" startAt="1"/>
            </a:pPr>
            <a:r>
              <a:rPr lang="en-US" b="true" sz="36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 Analysis of variance </a:t>
            </a: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(ANOVA): how MPZL1 mRNA differs across normal liver, diploid HCC, and MPZL1-gain HCC and how volume differs across days after CAR-T treatment</a:t>
            </a:r>
          </a:p>
          <a:p>
            <a:pPr algn="l" marL="777242" indent="-388621" lvl="1">
              <a:lnSpc>
                <a:spcPts val="5040"/>
              </a:lnSpc>
              <a:buAutoNum type="arabicPeriod" startAt="1"/>
            </a:pP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b="true" sz="36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Tukey’s multiple-comparisons test</a:t>
            </a: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produced adjusted p values</a:t>
            </a:r>
          </a:p>
          <a:p>
            <a:pPr algn="l" marL="777242" indent="-388621" lvl="1">
              <a:lnSpc>
                <a:spcPts val="5040"/>
              </a:lnSpc>
              <a:buAutoNum type="arabicPeriod" startAt="1"/>
            </a:pP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b="true" sz="36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Correlation</a:t>
            </a: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: whether more MPZL1 gene copies related to more MPZL1 mRNA</a:t>
            </a:r>
          </a:p>
          <a:p>
            <a:pPr algn="l" marL="777242" indent="-388621" lvl="1">
              <a:lnSpc>
                <a:spcPts val="5040"/>
              </a:lnSpc>
              <a:spcBef>
                <a:spcPct val="0"/>
              </a:spcBef>
              <a:buAutoNum type="arabicPeriod" startAt="1"/>
            </a:pP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b="true" sz="3600">
                <a:solidFill>
                  <a:srgbClr val="343734"/>
                </a:solidFill>
                <a:latin typeface="Poppins Bold"/>
                <a:ea typeface="Poppins Bold"/>
                <a:cs typeface="Poppins Bold"/>
                <a:sym typeface="Poppins Bold"/>
              </a:rPr>
              <a:t>Log-rank test: </a:t>
            </a:r>
            <a:r>
              <a:rPr lang="en-US" sz="36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compared survival of mice with MPZL1 tumors and mice with MPZL1-KO tumors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DEE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38225" y="3771203"/>
            <a:ext cx="16151630" cy="2744593"/>
            <a:chOff x="0" y="0"/>
            <a:chExt cx="21535507" cy="3659458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2108860" y="2846658"/>
              <a:ext cx="17317788" cy="812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800"/>
                </a:lnSpc>
              </a:pPr>
              <a:r>
                <a:rPr lang="en-US" b="true" sz="4000">
                  <a:solidFill>
                    <a:srgbClr val="635C56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Skyler Skinner</a:t>
              </a:r>
              <a:r>
                <a:rPr lang="en-US" b="true" sz="4000">
                  <a:solidFill>
                    <a:srgbClr val="635C56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&amp; Nadia Alexander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9525"/>
              <a:ext cx="21535507" cy="19399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400"/>
                </a:lnSpc>
              </a:pPr>
              <a:r>
                <a:rPr lang="en-US" b="true" sz="9500">
                  <a:solidFill>
                    <a:srgbClr val="635C56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Machine Learning Model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60"/>
            <a:ext cx="3804517" cy="5594879"/>
          </a:xfrm>
          <a:custGeom>
            <a:avLst/>
            <a:gdLst/>
            <a:ahLst/>
            <a:cxnLst/>
            <a:rect r="r" b="b" t="t" l="l"/>
            <a:pathLst>
              <a:path h="5594879" w="3804517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90835" y="1776719"/>
            <a:ext cx="8686999" cy="8073283"/>
          </a:xfrm>
          <a:custGeom>
            <a:avLst/>
            <a:gdLst/>
            <a:ahLst/>
            <a:cxnLst/>
            <a:rect r="r" b="b" t="t" l="l"/>
            <a:pathLst>
              <a:path h="8073283" w="8686999">
                <a:moveTo>
                  <a:pt x="0" y="0"/>
                </a:moveTo>
                <a:lnTo>
                  <a:pt x="8686999" y="0"/>
                </a:lnTo>
                <a:lnTo>
                  <a:pt x="8686999" y="8073283"/>
                </a:lnTo>
                <a:lnTo>
                  <a:pt x="0" y="80732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851040" y="3749971"/>
            <a:ext cx="8013339" cy="1115089"/>
          </a:xfrm>
          <a:custGeom>
            <a:avLst/>
            <a:gdLst/>
            <a:ahLst/>
            <a:cxnLst/>
            <a:rect r="r" b="b" t="t" l="l"/>
            <a:pathLst>
              <a:path h="1115089" w="8013339">
                <a:moveTo>
                  <a:pt x="0" y="0"/>
                </a:moveTo>
                <a:lnTo>
                  <a:pt x="8013339" y="0"/>
                </a:lnTo>
                <a:lnTo>
                  <a:pt x="8013339" y="1115089"/>
                </a:lnTo>
                <a:lnTo>
                  <a:pt x="0" y="11150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851040" y="6427816"/>
            <a:ext cx="8013339" cy="1234684"/>
          </a:xfrm>
          <a:custGeom>
            <a:avLst/>
            <a:gdLst/>
            <a:ahLst/>
            <a:cxnLst/>
            <a:rect r="r" b="b" t="t" l="l"/>
            <a:pathLst>
              <a:path h="1234684" w="8013339">
                <a:moveTo>
                  <a:pt x="0" y="0"/>
                </a:moveTo>
                <a:lnTo>
                  <a:pt x="8013339" y="0"/>
                </a:lnTo>
                <a:lnTo>
                  <a:pt x="8013339" y="1234684"/>
                </a:lnTo>
                <a:lnTo>
                  <a:pt x="0" y="123468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70659" y="519899"/>
            <a:ext cx="17293719" cy="1256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26"/>
              </a:lnSpc>
            </a:pPr>
            <a:r>
              <a:rPr lang="en-US" b="true" sz="8750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Feature vs. Label Diagram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851040" y="3240065"/>
            <a:ext cx="1425104" cy="509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Target: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51040" y="5727635"/>
            <a:ext cx="2824237" cy="509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Model Output: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332551"/>
            <a:ext cx="697231" cy="697231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47042" y="4332551"/>
            <a:ext cx="8399578" cy="697231"/>
            <a:chOff x="0" y="0"/>
            <a:chExt cx="2933836" cy="24353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33836" cy="243532"/>
            </a:xfrm>
            <a:custGeom>
              <a:avLst/>
              <a:gdLst/>
              <a:ahLst/>
              <a:cxnLst/>
              <a:rect r="r" b="b" t="t" l="l"/>
              <a:pathLst>
                <a:path h="243532" w="2933836">
                  <a:moveTo>
                    <a:pt x="47007" y="0"/>
                  </a:moveTo>
                  <a:lnTo>
                    <a:pt x="2886829" y="0"/>
                  </a:lnTo>
                  <a:cubicBezTo>
                    <a:pt x="2899296" y="0"/>
                    <a:pt x="2911252" y="4952"/>
                    <a:pt x="2920068" y="13768"/>
                  </a:cubicBezTo>
                  <a:cubicBezTo>
                    <a:pt x="2928883" y="22583"/>
                    <a:pt x="2933836" y="34540"/>
                    <a:pt x="2933836" y="47007"/>
                  </a:cubicBezTo>
                  <a:lnTo>
                    <a:pt x="2933836" y="196525"/>
                  </a:lnTo>
                  <a:cubicBezTo>
                    <a:pt x="2933836" y="208992"/>
                    <a:pt x="2928883" y="220948"/>
                    <a:pt x="2920068" y="229764"/>
                  </a:cubicBezTo>
                  <a:cubicBezTo>
                    <a:pt x="2911252" y="238579"/>
                    <a:pt x="2899296" y="243532"/>
                    <a:pt x="2886829" y="243532"/>
                  </a:cubicBezTo>
                  <a:lnTo>
                    <a:pt x="47007" y="243532"/>
                  </a:lnTo>
                  <a:cubicBezTo>
                    <a:pt x="34540" y="243532"/>
                    <a:pt x="22583" y="238579"/>
                    <a:pt x="13768" y="229764"/>
                  </a:cubicBezTo>
                  <a:cubicBezTo>
                    <a:pt x="4952" y="220948"/>
                    <a:pt x="0" y="208992"/>
                    <a:pt x="0" y="196525"/>
                  </a:cubicBezTo>
                  <a:lnTo>
                    <a:pt x="0" y="47007"/>
                  </a:lnTo>
                  <a:cubicBezTo>
                    <a:pt x="0" y="34540"/>
                    <a:pt x="4952" y="22583"/>
                    <a:pt x="13768" y="13768"/>
                  </a:cubicBezTo>
                  <a:cubicBezTo>
                    <a:pt x="22583" y="4952"/>
                    <a:pt x="34540" y="0"/>
                    <a:pt x="4700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933836" cy="281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5364008"/>
            <a:ext cx="697231" cy="697231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847042" y="5354483"/>
            <a:ext cx="8399578" cy="697231"/>
            <a:chOff x="0" y="0"/>
            <a:chExt cx="2933836" cy="24353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33836" cy="243532"/>
            </a:xfrm>
            <a:custGeom>
              <a:avLst/>
              <a:gdLst/>
              <a:ahLst/>
              <a:cxnLst/>
              <a:rect r="r" b="b" t="t" l="l"/>
              <a:pathLst>
                <a:path h="243532" w="2933836">
                  <a:moveTo>
                    <a:pt x="47007" y="0"/>
                  </a:moveTo>
                  <a:lnTo>
                    <a:pt x="2886829" y="0"/>
                  </a:lnTo>
                  <a:cubicBezTo>
                    <a:pt x="2899296" y="0"/>
                    <a:pt x="2911252" y="4952"/>
                    <a:pt x="2920068" y="13768"/>
                  </a:cubicBezTo>
                  <a:cubicBezTo>
                    <a:pt x="2928883" y="22583"/>
                    <a:pt x="2933836" y="34540"/>
                    <a:pt x="2933836" y="47007"/>
                  </a:cubicBezTo>
                  <a:lnTo>
                    <a:pt x="2933836" y="196525"/>
                  </a:lnTo>
                  <a:cubicBezTo>
                    <a:pt x="2933836" y="208992"/>
                    <a:pt x="2928883" y="220948"/>
                    <a:pt x="2920068" y="229764"/>
                  </a:cubicBezTo>
                  <a:cubicBezTo>
                    <a:pt x="2911252" y="238579"/>
                    <a:pt x="2899296" y="243532"/>
                    <a:pt x="2886829" y="243532"/>
                  </a:cubicBezTo>
                  <a:lnTo>
                    <a:pt x="47007" y="243532"/>
                  </a:lnTo>
                  <a:cubicBezTo>
                    <a:pt x="34540" y="243532"/>
                    <a:pt x="22583" y="238579"/>
                    <a:pt x="13768" y="229764"/>
                  </a:cubicBezTo>
                  <a:cubicBezTo>
                    <a:pt x="4952" y="220948"/>
                    <a:pt x="0" y="208992"/>
                    <a:pt x="0" y="196525"/>
                  </a:cubicBezTo>
                  <a:lnTo>
                    <a:pt x="0" y="47007"/>
                  </a:lnTo>
                  <a:cubicBezTo>
                    <a:pt x="0" y="34540"/>
                    <a:pt x="4952" y="22583"/>
                    <a:pt x="13768" y="13768"/>
                  </a:cubicBezTo>
                  <a:cubicBezTo>
                    <a:pt x="22583" y="4952"/>
                    <a:pt x="34540" y="0"/>
                    <a:pt x="4700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933836" cy="281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28700" y="6395464"/>
            <a:ext cx="697231" cy="697231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847042" y="6395464"/>
            <a:ext cx="8399578" cy="697231"/>
            <a:chOff x="0" y="0"/>
            <a:chExt cx="2933836" cy="24353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933836" cy="243532"/>
            </a:xfrm>
            <a:custGeom>
              <a:avLst/>
              <a:gdLst/>
              <a:ahLst/>
              <a:cxnLst/>
              <a:rect r="r" b="b" t="t" l="l"/>
              <a:pathLst>
                <a:path h="243532" w="2933836">
                  <a:moveTo>
                    <a:pt x="47007" y="0"/>
                  </a:moveTo>
                  <a:lnTo>
                    <a:pt x="2886829" y="0"/>
                  </a:lnTo>
                  <a:cubicBezTo>
                    <a:pt x="2899296" y="0"/>
                    <a:pt x="2911252" y="4952"/>
                    <a:pt x="2920068" y="13768"/>
                  </a:cubicBezTo>
                  <a:cubicBezTo>
                    <a:pt x="2928883" y="22583"/>
                    <a:pt x="2933836" y="34540"/>
                    <a:pt x="2933836" y="47007"/>
                  </a:cubicBezTo>
                  <a:lnTo>
                    <a:pt x="2933836" y="196525"/>
                  </a:lnTo>
                  <a:cubicBezTo>
                    <a:pt x="2933836" y="208992"/>
                    <a:pt x="2928883" y="220948"/>
                    <a:pt x="2920068" y="229764"/>
                  </a:cubicBezTo>
                  <a:cubicBezTo>
                    <a:pt x="2911252" y="238579"/>
                    <a:pt x="2899296" y="243532"/>
                    <a:pt x="2886829" y="243532"/>
                  </a:cubicBezTo>
                  <a:lnTo>
                    <a:pt x="47007" y="243532"/>
                  </a:lnTo>
                  <a:cubicBezTo>
                    <a:pt x="34540" y="243532"/>
                    <a:pt x="22583" y="238579"/>
                    <a:pt x="13768" y="229764"/>
                  </a:cubicBezTo>
                  <a:cubicBezTo>
                    <a:pt x="4952" y="220948"/>
                    <a:pt x="0" y="208992"/>
                    <a:pt x="0" y="196525"/>
                  </a:cubicBezTo>
                  <a:lnTo>
                    <a:pt x="0" y="47007"/>
                  </a:lnTo>
                  <a:cubicBezTo>
                    <a:pt x="0" y="34540"/>
                    <a:pt x="4952" y="22583"/>
                    <a:pt x="13768" y="13768"/>
                  </a:cubicBezTo>
                  <a:cubicBezTo>
                    <a:pt x="22583" y="4952"/>
                    <a:pt x="34540" y="0"/>
                    <a:pt x="4700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933836" cy="281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7426921"/>
            <a:ext cx="697231" cy="697231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847042" y="7426921"/>
            <a:ext cx="8399578" cy="1083107"/>
            <a:chOff x="0" y="0"/>
            <a:chExt cx="2933836" cy="37831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933836" cy="378312"/>
            </a:xfrm>
            <a:custGeom>
              <a:avLst/>
              <a:gdLst/>
              <a:ahLst/>
              <a:cxnLst/>
              <a:rect r="r" b="b" t="t" l="l"/>
              <a:pathLst>
                <a:path h="378312" w="2933836">
                  <a:moveTo>
                    <a:pt x="47007" y="0"/>
                  </a:moveTo>
                  <a:lnTo>
                    <a:pt x="2886829" y="0"/>
                  </a:lnTo>
                  <a:cubicBezTo>
                    <a:pt x="2899296" y="0"/>
                    <a:pt x="2911252" y="4952"/>
                    <a:pt x="2920068" y="13768"/>
                  </a:cubicBezTo>
                  <a:cubicBezTo>
                    <a:pt x="2928883" y="22583"/>
                    <a:pt x="2933836" y="34540"/>
                    <a:pt x="2933836" y="47007"/>
                  </a:cubicBezTo>
                  <a:lnTo>
                    <a:pt x="2933836" y="331305"/>
                  </a:lnTo>
                  <a:cubicBezTo>
                    <a:pt x="2933836" y="343772"/>
                    <a:pt x="2928883" y="355728"/>
                    <a:pt x="2920068" y="364544"/>
                  </a:cubicBezTo>
                  <a:cubicBezTo>
                    <a:pt x="2911252" y="373359"/>
                    <a:pt x="2899296" y="378312"/>
                    <a:pt x="2886829" y="378312"/>
                  </a:cubicBezTo>
                  <a:lnTo>
                    <a:pt x="47007" y="378312"/>
                  </a:lnTo>
                  <a:cubicBezTo>
                    <a:pt x="34540" y="378312"/>
                    <a:pt x="22583" y="373359"/>
                    <a:pt x="13768" y="364544"/>
                  </a:cubicBezTo>
                  <a:cubicBezTo>
                    <a:pt x="4952" y="355728"/>
                    <a:pt x="0" y="343772"/>
                    <a:pt x="0" y="331305"/>
                  </a:cubicBezTo>
                  <a:lnTo>
                    <a:pt x="0" y="47007"/>
                  </a:lnTo>
                  <a:cubicBezTo>
                    <a:pt x="0" y="34540"/>
                    <a:pt x="4952" y="22583"/>
                    <a:pt x="13768" y="13768"/>
                  </a:cubicBezTo>
                  <a:cubicBezTo>
                    <a:pt x="22583" y="4952"/>
                    <a:pt x="34540" y="0"/>
                    <a:pt x="4700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933836" cy="4164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1453139" y="5669566"/>
            <a:ext cx="4882709" cy="3514709"/>
          </a:xfrm>
          <a:custGeom>
            <a:avLst/>
            <a:gdLst/>
            <a:ahLst/>
            <a:cxnLst/>
            <a:rect r="r" b="b" t="t" l="l"/>
            <a:pathLst>
              <a:path h="3514709" w="4882709">
                <a:moveTo>
                  <a:pt x="0" y="0"/>
                </a:moveTo>
                <a:lnTo>
                  <a:pt x="4882709" y="0"/>
                </a:lnTo>
                <a:lnTo>
                  <a:pt x="4882709" y="3514709"/>
                </a:lnTo>
                <a:lnTo>
                  <a:pt x="0" y="35147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2253422" y="1123950"/>
            <a:ext cx="13781156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b="true" sz="8799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Evaluation Plan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955682" y="4473179"/>
            <a:ext cx="8182298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Dataset Split (Surface stratified 70/15/15 splits)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39709" y="4383682"/>
            <a:ext cx="875213" cy="537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955682" y="5328448"/>
            <a:ext cx="8182298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Supervised Regression Models 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(Constant, Ridge, Random Forest, Gradiant Boosting)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39709" y="5415138"/>
            <a:ext cx="875213" cy="537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955682" y="6359905"/>
            <a:ext cx="8182298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Evaluation Metrics (Mean Absolute Error, Spearman Correleation)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39709" y="6446595"/>
            <a:ext cx="875213" cy="537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955682" y="7567549"/>
            <a:ext cx="8182298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Model Improvements: Hyperparameter tuning &amp; Adjust the threshold to determine effect on weights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39709" y="7478051"/>
            <a:ext cx="875213" cy="537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77592" y="8492289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77735" y="1114425"/>
            <a:ext cx="8442591" cy="2483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00"/>
              </a:lnSpc>
            </a:pPr>
            <a:r>
              <a:rPr lang="en-US" b="true" sz="8818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Practical Start Evidence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991392" y="1751269"/>
            <a:ext cx="7891566" cy="7239017"/>
            <a:chOff x="0" y="0"/>
            <a:chExt cx="1799614" cy="165080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799614" cy="1650805"/>
            </a:xfrm>
            <a:custGeom>
              <a:avLst/>
              <a:gdLst/>
              <a:ahLst/>
              <a:cxnLst/>
              <a:rect r="r" b="b" t="t" l="l"/>
              <a:pathLst>
                <a:path h="1650805" w="1799614">
                  <a:moveTo>
                    <a:pt x="0" y="0"/>
                  </a:moveTo>
                  <a:lnTo>
                    <a:pt x="1799614" y="0"/>
                  </a:lnTo>
                  <a:lnTo>
                    <a:pt x="1799614" y="1650805"/>
                  </a:lnTo>
                  <a:lnTo>
                    <a:pt x="0" y="1650805"/>
                  </a:lnTo>
                  <a:close/>
                </a:path>
              </a:pathLst>
            </a:custGeom>
            <a:blipFill>
              <a:blip r:embed="rId5"/>
              <a:stretch>
                <a:fillRect l="-1246" t="0" r="-1246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4096912"/>
            <a:ext cx="8200876" cy="4235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Libraries: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Python, Jupyter Notebook, pandas, scikit-learn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Checkpoint1_gene_dependency_model.ipynb</a:t>
            </a:r>
          </a:p>
          <a:p>
            <a:pPr algn="just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Sections: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Load public expression, copy-number, and dependency data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Clean and merge datasets into one row per gene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Create input feature matrix X and dependency target y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Surface-Stratified Splits</a:t>
            </a:r>
          </a:p>
          <a:p>
            <a:pPr algn="l" marL="863598" indent="-287866" lvl="2">
              <a:lnSpc>
                <a:spcPts val="2799"/>
              </a:lnSpc>
              <a:spcBef>
                <a:spcPct val="0"/>
              </a:spcBef>
              <a:buFont typeface="Arial"/>
              <a:buChar char="⚬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70/15/15 split with 2000 labeled genes</a:t>
            </a:r>
          </a:p>
          <a:p>
            <a:pPr algn="l" marL="863598" indent="-287866" lvl="2">
              <a:lnSpc>
                <a:spcPts val="2799"/>
              </a:lnSpc>
              <a:spcBef>
                <a:spcPct val="0"/>
              </a:spcBef>
              <a:buFont typeface="Arial"/>
              <a:buChar char="⚬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20 test surface candidates displayed to the right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Train the constant and ridge baselines </a:t>
            </a:r>
          </a:p>
          <a:p>
            <a:pPr algn="l" marL="431799" indent="-215899" lvl="1">
              <a:lnSpc>
                <a:spcPts val="2799"/>
              </a:lnSpc>
              <a:spcBef>
                <a:spcPct val="0"/>
              </a:spcBef>
              <a:buFont typeface="Arial"/>
              <a:buChar char="•"/>
            </a:pPr>
            <a:r>
              <a:rPr lang="en-US" sz="1999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Compare models with MAE and Spearman correlation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123950"/>
            <a:ext cx="13854017" cy="1245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 Cited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733690"/>
            <a:ext cx="16230600" cy="1545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89"/>
              </a:lnSpc>
              <a:spcBef>
                <a:spcPct val="0"/>
              </a:spcBef>
            </a:pPr>
            <a:r>
              <a:rPr lang="en-US" sz="29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Jiménez-Vázquez S, Berthel A, Patsis C, et al. Cancer-driver-agnostic targeting of amplified surface proteins identifies MPZL</a:t>
            </a:r>
            <a:r>
              <a:rPr lang="en-US" sz="292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1 for selective CAR-T cell therapy. Nature Communications. 2026;17:9695. </a:t>
            </a:r>
            <a:r>
              <a:rPr lang="en-US" sz="2920" u="sng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  <a:hlinkClick r:id="rId2" tooltip="https://doi.org/10.1038/s41467-026-77465-5"/>
              </a:rPr>
              <a:t>https://doi.org/10.1038/s41467-026-77465-5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59161" y="-353316"/>
            <a:ext cx="5954157" cy="11239916"/>
            <a:chOff x="0" y="0"/>
            <a:chExt cx="1568173" cy="296030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68173" cy="2960307"/>
            </a:xfrm>
            <a:custGeom>
              <a:avLst/>
              <a:gdLst/>
              <a:ahLst/>
              <a:cxnLst/>
              <a:rect r="r" b="b" t="t" l="l"/>
              <a:pathLst>
                <a:path h="2960307" w="1568173">
                  <a:moveTo>
                    <a:pt x="0" y="0"/>
                  </a:moveTo>
                  <a:lnTo>
                    <a:pt x="1568173" y="0"/>
                  </a:lnTo>
                  <a:lnTo>
                    <a:pt x="1568173" y="2960307"/>
                  </a:lnTo>
                  <a:lnTo>
                    <a:pt x="0" y="2960307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568173" cy="30174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537545" y="7656013"/>
            <a:ext cx="7613364" cy="576205"/>
            <a:chOff x="0" y="0"/>
            <a:chExt cx="2005166" cy="15175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05166" cy="151758"/>
            </a:xfrm>
            <a:custGeom>
              <a:avLst/>
              <a:gdLst/>
              <a:ahLst/>
              <a:cxnLst/>
              <a:rect r="r" b="b" t="t" l="l"/>
              <a:pathLst>
                <a:path h="151758" w="2005166">
                  <a:moveTo>
                    <a:pt x="0" y="0"/>
                  </a:moveTo>
                  <a:lnTo>
                    <a:pt x="2005166" y="0"/>
                  </a:lnTo>
                  <a:lnTo>
                    <a:pt x="2005166" y="151758"/>
                  </a:lnTo>
                  <a:lnTo>
                    <a:pt x="0" y="151758"/>
                  </a:lnTo>
                  <a:close/>
                </a:path>
              </a:pathLst>
            </a:custGeom>
            <a:ln w="38100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005166" cy="2089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9637891" y="2754659"/>
            <a:ext cx="7621409" cy="4901354"/>
          </a:xfrm>
          <a:custGeom>
            <a:avLst/>
            <a:gdLst/>
            <a:ahLst/>
            <a:cxnLst/>
            <a:rect r="r" b="b" t="t" l="l"/>
            <a:pathLst>
              <a:path h="4901354" w="7621409">
                <a:moveTo>
                  <a:pt x="0" y="0"/>
                </a:moveTo>
                <a:lnTo>
                  <a:pt x="7621409" y="0"/>
                </a:lnTo>
                <a:lnTo>
                  <a:pt x="7621409" y="4901354"/>
                </a:lnTo>
                <a:lnTo>
                  <a:pt x="0" y="49013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334014" y="1314450"/>
            <a:ext cx="10020426" cy="53885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57"/>
              </a:lnSpc>
            </a:pPr>
            <a:r>
              <a:rPr lang="en-US" b="true" sz="19864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</a:t>
            </a:r>
            <a:r>
              <a:rPr lang="en-US" b="true" sz="19864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ank You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555235" y="7710118"/>
            <a:ext cx="6595674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399" spc="415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Thank you 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DAHYBngxWR8</dc:identifier>
  <dcterms:modified xsi:type="dcterms:W3CDTF">2011-08-01T06:04:30Z</dcterms:modified>
  <cp:revision>1</cp:revision>
  <dc:title>Blue and Grey Modern Data Analyst Presentation</dc:title>
</cp:coreProperties>
</file>